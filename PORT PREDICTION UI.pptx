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6" r:id="rId10"/>
    <p:sldId id="264"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924"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C1BF2C29-493D-4BF5-BBEE-FDC776D613F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C1BF2C29-493D-4BF5-BBEE-FDC776D613F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7" name="Date Placeholder 4"/>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1BF2C29-493D-4BF5-BBEE-FDC776D613F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1BF2C29-493D-4BF5-BBEE-FDC776D613F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endParaRPr lang="en-US"/>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1BF2C29-493D-4BF5-BBEE-FDC776D613F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E6B64-B9F8-41EF-B512-F119212A5E0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image" Target="../media/image4.png"/><Relationship Id="rId21" Type="http://schemas.openxmlformats.org/officeDocument/2006/relationships/image" Target="../media/image3.png"/><Relationship Id="rId20" Type="http://schemas.openxmlformats.org/officeDocument/2006/relationships/image" Target="../media/image2.png"/><Relationship Id="rId2" Type="http://schemas.openxmlformats.org/officeDocument/2006/relationships/slideLayout" Target="../slideLayouts/slideLayout2.xml"/><Relationship Id="rId19" Type="http://schemas.openxmlformats.org/officeDocument/2006/relationships/image" Target="../media/image1.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1BF2C29-493D-4BF5-BBEE-FDC776D613F7}" type="datetimeFigureOut">
              <a:rPr lang="en-US" smtClean="0"/>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4BE6B64-B9F8-41EF-B512-F119212A5E03}"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5065" y="116840"/>
            <a:ext cx="10145395" cy="4660265"/>
          </a:xfrm>
        </p:spPr>
        <p:txBody>
          <a:bodyPr/>
          <a:lstStyle/>
          <a:p>
            <a:r>
              <a:rPr lang="en-US" sz="6000" dirty="0">
                <a:latin typeface="Bahnschrift Condensed" panose="020B0502040204020203" pitchFamily="34" charset="0"/>
              </a:rPr>
              <a:t>PORT</a:t>
            </a:r>
            <a:r>
              <a:rPr lang="en-US" sz="6000" dirty="0"/>
              <a:t> PREDICTION</a:t>
            </a:r>
            <a:br>
              <a:rPr lang="en-US" sz="6000" dirty="0"/>
            </a:br>
            <a:br>
              <a:rPr lang="en-US" sz="1800" dirty="0"/>
            </a:br>
            <a:r>
              <a:rPr lang="en-US" sz="2000" b="1" dirty="0"/>
              <a:t>T</a:t>
            </a:r>
            <a:r>
              <a:rPr lang="en-US" sz="2400" b="1" dirty="0"/>
              <a:t>o develop a predictive</a:t>
            </a:r>
            <a:r>
              <a:rPr lang="en-GB" altLang="en-US" sz="2400" b="1" dirty="0"/>
              <a:t> probability</a:t>
            </a:r>
            <a:r>
              <a:rPr lang="en-US" sz="2400" b="1" dirty="0"/>
              <a:t> model that uses port movement data to determine the next port a vessel is likely to sail to</a:t>
            </a:r>
            <a:endParaRPr lang="en-US"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rcRect l="401" t="-159" r="28045" b="159"/>
          <a:stretch>
            <a:fillRect/>
          </a:stretch>
        </p:blipFill>
        <p:spPr>
          <a:xfrm>
            <a:off x="366338" y="103909"/>
            <a:ext cx="11381714" cy="66863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374650" y="317500"/>
            <a:ext cx="11443335" cy="63315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320040" y="635635"/>
            <a:ext cx="11551920" cy="51542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478790" y="81280"/>
            <a:ext cx="11159490" cy="6489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13995" y="784860"/>
            <a:ext cx="11685270" cy="5568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631825" y="304165"/>
            <a:ext cx="10776585" cy="61963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 (1)"/>
          <p:cNvPicPr>
            <a:picLocks noChangeAspect="1"/>
          </p:cNvPicPr>
          <p:nvPr/>
        </p:nvPicPr>
        <p:blipFill>
          <a:blip r:embed="rId1"/>
          <a:stretch>
            <a:fillRect/>
          </a:stretch>
        </p:blipFill>
        <p:spPr>
          <a:xfrm>
            <a:off x="380365" y="266700"/>
            <a:ext cx="11257915" cy="6324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
          <p:cNvPicPr>
            <a:picLocks noChangeAspect="1"/>
          </p:cNvPicPr>
          <p:nvPr/>
        </p:nvPicPr>
        <p:blipFill>
          <a:blip r:embed="rId1"/>
          <a:stretch>
            <a:fillRect/>
          </a:stretch>
        </p:blipFill>
        <p:spPr>
          <a:xfrm>
            <a:off x="438150" y="161925"/>
            <a:ext cx="11326495" cy="6534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73455" y="553085"/>
            <a:ext cx="10363200" cy="5323205"/>
          </a:xfrm>
          <a:prstGeom prst="rect">
            <a:avLst/>
          </a:prstGeom>
          <a:noFill/>
        </p:spPr>
        <p:txBody>
          <a:bodyPr wrap="square" rtlCol="0">
            <a:spAutoFit/>
          </a:bodyPr>
          <a:p>
            <a:r>
              <a:rPr lang="en-GB" altLang="en-US" sz="2000" b="1"/>
              <a:t>MARKOV CHAIN:</a:t>
            </a:r>
            <a:br>
              <a:rPr lang="en-GB" altLang="en-US" sz="2000" b="1"/>
            </a:br>
            <a:br>
              <a:rPr lang="en-GB" altLang="en-US" sz="2000" b="1"/>
            </a:br>
            <a:r>
              <a:rPr lang="en-GB" altLang="en-US" sz="2000" b="1"/>
              <a:t>A Markov chain is a stochastic model created by Andrey Markov that outlines the probability associated with a sequence of events occurring based on the state in the previous event. </a:t>
            </a:r>
            <a:endParaRPr lang="en-GB" altLang="en-US" sz="2000" b="1"/>
          </a:p>
          <a:p>
            <a:endParaRPr lang="en-GB" altLang="en-US" sz="2000" b="1"/>
          </a:p>
          <a:p>
            <a:r>
              <a:rPr lang="en-GB" altLang="en-US" sz="2000" b="1"/>
              <a:t>Even Google’s page rank algorithm, which determines what links to show first in its search engine, is a type of Markov chain.</a:t>
            </a:r>
            <a:br>
              <a:rPr lang="en-GB" altLang="en-US" sz="2000" b="1"/>
            </a:br>
            <a:endParaRPr lang="en-GB" altLang="en-US" sz="2000" b="1"/>
          </a:p>
          <a:p>
            <a:r>
              <a:rPr lang="en-GB" altLang="en-US" sz="2000" b="1"/>
              <a:t>The main goal of the Markov process is to identify the probability of transitioning from one state to another.</a:t>
            </a:r>
            <a:endParaRPr lang="en-GB" altLang="en-US" sz="2000" b="1"/>
          </a:p>
          <a:p>
            <a:endParaRPr lang="en-GB" altLang="en-US" sz="2000" b="1"/>
          </a:p>
          <a:p>
            <a:r>
              <a:rPr lang="en-GB" altLang="en-US" sz="2000" b="1"/>
              <a:t>Transition Matrix:</a:t>
            </a:r>
            <a:endParaRPr lang="en-GB" altLang="en-US" sz="2000" b="1"/>
          </a:p>
          <a:p>
            <a:endParaRPr lang="en-GB" altLang="en-US" sz="2000" b="1"/>
          </a:p>
          <a:p>
            <a:r>
              <a:rPr lang="en-GB" altLang="en-US" sz="2000" b="1"/>
              <a:t>Denoted as “P,” This NxN matrix represents the probability distribution of the state’s transitions. The sum of probabilities in each row of the matrix will be one, implying that this is a stochastic matrix.</a:t>
            </a:r>
            <a:endParaRPr lang="en-GB" altLang="en-US" sz="20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4025" y="325755"/>
            <a:ext cx="11207750" cy="4799965"/>
          </a:xfrm>
          <a:prstGeom prst="rect">
            <a:avLst/>
          </a:prstGeom>
          <a:noFill/>
        </p:spPr>
        <p:txBody>
          <a:bodyPr wrap="square" rtlCol="0">
            <a:spAutoFit/>
          </a:bodyPr>
          <a:p>
            <a:r>
              <a:rPr lang="en-GB" altLang="en-US"/>
              <a:t>p </a:t>
            </a:r>
            <a:endParaRPr lang="en-GB" altLang="en-US"/>
          </a:p>
          <a:p>
            <a:r>
              <a:rPr lang="en-GB" altLang="en-US"/>
              <a:t>ij  = Total number of transitions from state i / Number of transitions from state i to state j</a:t>
            </a:r>
            <a:endParaRPr lang="en-GB" altLang="en-US"/>
          </a:p>
          <a:p>
            <a:r>
              <a:rPr lang="en-GB" altLang="en-US"/>
              <a:t>​</a:t>
            </a:r>
            <a:endParaRPr lang="en-GB" altLang="en-US"/>
          </a:p>
          <a:p>
            <a:r>
              <a:rPr lang="en-GB" altLang="en-US"/>
              <a:t>After tracking the customers, you observe:</a:t>
            </a:r>
            <a:endParaRPr lang="en-GB" altLang="en-US"/>
          </a:p>
          <a:p>
            <a:endParaRPr lang="en-GB" altLang="en-US"/>
          </a:p>
          <a:p>
            <a:r>
              <a:rPr lang="en-GB" altLang="en-US"/>
              <a:t>Out of 100 customers who bought Product A, 50 stayed with Product A, 30 switched to Product B, and 20 switched to Product C.</a:t>
            </a:r>
            <a:endParaRPr lang="en-GB" altLang="en-US"/>
          </a:p>
          <a:p>
            <a:r>
              <a:rPr lang="en-GB" altLang="en-US"/>
              <a:t>Out of 200 customers who bought Product B, 120 stayed with Product B, 50 switched to Product A, and 30 switched to Product C.</a:t>
            </a:r>
            <a:endParaRPr lang="en-GB" altLang="en-US"/>
          </a:p>
          <a:p>
            <a:r>
              <a:rPr lang="en-GB" altLang="en-US"/>
              <a:t>Out of 300 customers who bought Product C, 200 stayed with Product C, 40 switched to Product A, and 60 switched to Product B.</a:t>
            </a:r>
            <a:endParaRPr lang="en-GB" altLang="en-US"/>
          </a:p>
          <a:p>
            <a:endParaRPr lang="en-GB" altLang="en-US"/>
          </a:p>
          <a:p>
            <a:endParaRPr lang="en-GB" altLang="en-US"/>
          </a:p>
          <a:p>
            <a:r>
              <a:rPr lang="en-GB" altLang="en-US"/>
              <a:t>Key Properties of a Transition Matrix</a:t>
            </a:r>
            <a:endParaRPr lang="en-GB" altLang="en-US"/>
          </a:p>
          <a:p>
            <a:r>
              <a:rPr lang="en-GB" altLang="en-US"/>
              <a:t>Non-negative entries: All entries  so they are between 0 and 1.</a:t>
            </a:r>
            <a:endParaRPr lang="en-GB" altLang="en-US"/>
          </a:p>
          <a:p>
            <a:r>
              <a:rPr lang="en-GB" altLang="en-US"/>
              <a:t>Row sums to 1: The sum of each row must be 1, since the system must transition to one of the states.</a:t>
            </a:r>
            <a:endParaRPr lang="en-GB"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84555" y="811530"/>
            <a:ext cx="10088245" cy="4705350"/>
          </a:xfrm>
          <a:prstGeom prst="rect">
            <a:avLst/>
          </a:prstGeom>
          <a:noFill/>
        </p:spPr>
        <p:txBody>
          <a:bodyPr wrap="square" rtlCol="0" anchor="t">
            <a:noAutofit/>
          </a:bodyPr>
          <a:p>
            <a:r>
              <a:rPr lang="en-GB" altLang="en-US" sz="2000"/>
              <a:t>Markov Chains are good at modeling systems where the next state (port) depends only on the current state (the port the ship is currently at) and not on the previous states (other ports the ship has visited), they can help predict which port a vessel is likely to visit next.</a:t>
            </a:r>
            <a:endParaRPr lang="en-GB" altLang="en-US" sz="2000"/>
          </a:p>
          <a:p>
            <a:endParaRPr lang="en-GB" altLang="en-US" sz="2000"/>
          </a:p>
          <a:p>
            <a:r>
              <a:rPr lang="en-GB" altLang="en-US" sz="2000"/>
              <a:t>In Markov Chains, if a vessel is at Port A right now, we only use the transition probabilities from Port A to determine the next port. We do not look at the vessel's history, like whether it was previously at Port B or Port C before reaching Port A.</a:t>
            </a:r>
            <a:endParaRPr lang="en-GB" altLang="en-US" sz="200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TM02836342[[fn=Ion]]</Template>
  <TotalTime>0</TotalTime>
  <Words>2036</Words>
  <Application>WPS Presentation</Application>
  <PresentationFormat>Widescreen</PresentationFormat>
  <Paragraphs>29</Paragraphs>
  <Slides>12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SimSun</vt:lpstr>
      <vt:lpstr>Wingdings</vt:lpstr>
      <vt:lpstr>Wingdings 3</vt:lpstr>
      <vt:lpstr>Symbol</vt:lpstr>
      <vt:lpstr>Arial</vt:lpstr>
      <vt:lpstr>Bahnschrift Condensed</vt:lpstr>
      <vt:lpstr>Century Gothic</vt:lpstr>
      <vt:lpstr>Microsoft YaHei</vt:lpstr>
      <vt:lpstr>Arial Unicode MS</vt:lpstr>
      <vt:lpstr>Calibri</vt:lpstr>
      <vt:lpstr>BatangChe</vt:lpstr>
      <vt:lpstr>Segoe Print</vt:lpstr>
      <vt:lpstr>Ion</vt:lpstr>
      <vt:lpstr>PORT PREDICTION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Akshaya M</dc:creator>
  <cp:lastModifiedBy>akshaya</cp:lastModifiedBy>
  <cp:revision>5</cp:revision>
  <dcterms:created xsi:type="dcterms:W3CDTF">2024-10-14T20:47:00Z</dcterms:created>
  <dcterms:modified xsi:type="dcterms:W3CDTF">2024-10-16T03:52:39Z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BD4681D8731F41369D768C317A97AAD8_12</vt:lpwstr>
  </property>
  <property fmtid="{D5CDD505-2E9C-101B-9397-08002B2CF9AE}" pid="3" name="KSOProductBuildVer">
    <vt:lpwstr>2057-12.2.0.13306</vt:lpwstr>
  </property>
</Properties>
</file>